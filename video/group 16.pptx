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73" r:id="rId12"/>
    <p:sldId id="270" r:id="rId13"/>
    <p:sldId id="271" r:id="rId14"/>
    <p:sldId id="272" r:id="rId15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7" d="100"/>
          <a:sy n="47" d="100"/>
        </p:scale>
        <p:origin x="2035" y="73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2651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53498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53577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8820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79181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35704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16174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65980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63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4440D-2ED2-CAC1-E06E-845190699DC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96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265219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78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3FB24E-C8DC-A477-8B6C-17E3D3713E7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91678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978587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367453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66EB4F-853C-936C-D970-C519A2BF879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29898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272278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870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1A281C-7850-FEEF-8AE1-6E9FB5B0B89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273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430500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704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00F6FB-251D-0E44-14BC-D8FB42BDB8C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007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956939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56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E1E97-7102-383D-DC37-6CEC1F7D24A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62384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2081717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500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C2921C-1A2C-914A-8549-68A508061AF1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82801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921016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627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A35E4E-0B27-6D08-11FD-07FF8AF7145E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50313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988808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363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348A5F-9230-ED26-40B2-E39F5DAED33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76347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62780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739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12B651-FA95-4B18-8A29-2443BE3F02D3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85237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280711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00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E82812-39F0-12C2-3995-97078158F051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26290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435905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935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49F82C-620D-8754-DE84-147AF0BE3619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84496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416881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108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B90EB2-C95E-EA9F-3E8D-99628620E2D4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79318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690860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1832044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565745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204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12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252643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2134208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8836031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6038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98002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59296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8512538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2620138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57421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7655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714476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15410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14899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1040906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3269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428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81823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758065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945049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3260691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969375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2129272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4114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063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513100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6543736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39904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139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5466325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40665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87627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5410079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389883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104620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3275572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170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31515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30289254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8628877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9280863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1112760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2135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22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642684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05931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5463213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476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71392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076899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280701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17727569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14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3346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669786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3751870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8/6/2026</a:t>
            </a:fld>
            <a:endParaRPr/>
          </a:p>
        </p:txBody>
      </p:sp>
      <p:sp>
        <p:nvSpPr>
          <p:cNvPr id="20333905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05895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ajvi06-10/PHP_Project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54753" name="PlaceHolder 1"/>
          <p:cNvSpPr>
            <a:spLocks noGrp="1"/>
          </p:cNvSpPr>
          <p:nvPr>
            <p:ph type="title"/>
          </p:nvPr>
        </p:nvSpPr>
        <p:spPr bwMode="auto">
          <a:xfrm>
            <a:off x="914400" y="2130480"/>
            <a:ext cx="10362718" cy="14695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en-IN" sz="4800" b="1" dirty="0"/>
              <a:t>Category-Based Social </a:t>
            </a:r>
            <a:r>
              <a:rPr lang="en-IN" sz="5400" b="1" dirty="0"/>
              <a:t>Media</a:t>
            </a:r>
            <a:r>
              <a:rPr lang="en-IN" sz="4800" b="1" dirty="0"/>
              <a:t> Feed</a:t>
            </a:r>
          </a:p>
        </p:txBody>
      </p:sp>
      <p:sp>
        <p:nvSpPr>
          <p:cNvPr id="1219807476" name="PlaceHolder 2"/>
          <p:cNvSpPr>
            <a:spLocks noGrp="1"/>
          </p:cNvSpPr>
          <p:nvPr>
            <p:ph type="subTitle"/>
          </p:nvPr>
        </p:nvSpPr>
        <p:spPr bwMode="auto">
          <a:xfrm>
            <a:off x="1828799" y="3789040"/>
            <a:ext cx="8533920" cy="69492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  <a:defRPr/>
            </a:pPr>
            <a:r>
              <a:rPr lang="en-IN" sz="3200" dirty="0">
                <a:solidFill>
                  <a:schemeClr val="dk1">
                    <a:tint val="75000"/>
                  </a:schemeClr>
                </a:solidFill>
                <a:latin typeface="Calibri"/>
              </a:rPr>
              <a:t>A new Approach to Social Media Feeds</a:t>
            </a:r>
            <a:endParaRPr lang="en-IN" sz="3200" b="0" u="none" strike="noStrike" dirty="0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pic>
        <p:nvPicPr>
          <p:cNvPr id="71762970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645396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971476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  <a:defRPr/>
            </a:pPr>
            <a:br>
              <a:rPr lang="en" sz="4400" b="0" u="none" strike="noStrike" dirty="0">
                <a:solidFill>
                  <a:schemeClr val="dk1"/>
                </a:solidFill>
              </a:rPr>
            </a:br>
            <a:r>
              <a:rPr lang="en" sz="4400" b="1" u="none" strike="noStrike" dirty="0">
                <a:solidFill>
                  <a:schemeClr val="dk1"/>
                </a:solidFill>
              </a:rPr>
              <a:t>Team Information</a:t>
            </a:r>
            <a:endParaRPr lang="en-US" sz="4400" b="1" u="none" strike="noStrike" dirty="0">
              <a:solidFill>
                <a:schemeClr val="dk1"/>
              </a:solidFill>
            </a:endParaRPr>
          </a:p>
        </p:txBody>
      </p:sp>
      <p:sp>
        <p:nvSpPr>
          <p:cNvPr id="1597681275" name="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514350" indent="-342900">
              <a:lnSpc>
                <a:spcPct val="90000"/>
              </a:lnSpc>
              <a:spcBef>
                <a:spcPts val="1198"/>
              </a:spcBef>
              <a:spcAft>
                <a:spcPts val="1198"/>
              </a:spcAft>
              <a:buFont typeface="+mj-lt"/>
              <a:buAutoNum type="arabicPeriod"/>
              <a:tabLst>
                <a:tab pos="0" algn="l"/>
              </a:tabLst>
              <a:defRPr/>
            </a:pPr>
            <a:r>
              <a:rPr lang="en-US" sz="2000" b="0" u="none" strike="noStrike" dirty="0">
                <a:solidFill>
                  <a:schemeClr val="dk1"/>
                </a:solidFill>
              </a:rPr>
              <a:t>Rajvi Gandhi - 92400527119 </a:t>
            </a:r>
          </a:p>
          <a:p>
            <a:pPr marL="514350" indent="-342900">
              <a:lnSpc>
                <a:spcPct val="90000"/>
              </a:lnSpc>
              <a:spcBef>
                <a:spcPts val="1198"/>
              </a:spcBef>
              <a:spcAft>
                <a:spcPts val="1198"/>
              </a:spcAft>
              <a:buFont typeface="+mj-lt"/>
              <a:buAutoNum type="arabicPeriod"/>
              <a:tabLst>
                <a:tab pos="0" algn="l"/>
              </a:tabLst>
              <a:defRPr/>
            </a:pPr>
            <a:r>
              <a:rPr lang="en-US" sz="2000" dirty="0">
                <a:solidFill>
                  <a:schemeClr val="dk1"/>
                </a:solidFill>
              </a:rPr>
              <a:t>Mukti Bhanderi - 92400527086</a:t>
            </a:r>
            <a:endParaRPr lang="en-US" sz="2000" b="0" u="none" strike="noStrike" dirty="0">
              <a:solidFill>
                <a:schemeClr val="dk1"/>
              </a:solidFill>
            </a:endParaRPr>
          </a:p>
        </p:txBody>
      </p:sp>
      <p:pic>
        <p:nvPicPr>
          <p:cNvPr id="199334825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8" y="173073"/>
            <a:ext cx="2146298" cy="71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3579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2" y="259431"/>
            <a:ext cx="2323253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732704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630175"/>
            <a:ext cx="10972320" cy="124370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Problem Statement</a:t>
            </a:r>
          </a:p>
        </p:txBody>
      </p:sp>
      <p:sp>
        <p:nvSpPr>
          <p:cNvPr id="252262133" name="PlaceHolder 2"/>
          <p:cNvSpPr>
            <a:spLocks noGrp="1"/>
          </p:cNvSpPr>
          <p:nvPr>
            <p:ph/>
          </p:nvPr>
        </p:nvSpPr>
        <p:spPr bwMode="auto">
          <a:xfrm>
            <a:off x="609600" y="1960240"/>
            <a:ext cx="10972320" cy="16127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IN" sz="2400" dirty="0">
                <a:latin typeface="+mn-lt"/>
              </a:rPr>
              <a:t>Reels are usually shown in one continuous feed.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IN" sz="2400" dirty="0">
                <a:latin typeface="+mn-lt"/>
              </a:rPr>
              <a:t>Different types of content can appear one after another.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IN" sz="2400" dirty="0">
                <a:latin typeface="+mn-lt"/>
              </a:rPr>
              <a:t>Users can easily lose a reel they were watching.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5342440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280208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92865" name="PlaceHolder 1"/>
          <p:cNvSpPr>
            <a:spLocks noGrp="1"/>
          </p:cNvSpPr>
          <p:nvPr>
            <p:ph type="title"/>
          </p:nvPr>
        </p:nvSpPr>
        <p:spPr bwMode="auto">
          <a:xfrm>
            <a:off x="838199" y="447254"/>
            <a:ext cx="10515600" cy="13255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  <a:defRPr/>
            </a:pPr>
            <a:br>
              <a:rPr lang="en" sz="4000" b="1" u="none" strike="noStrike" dirty="0">
                <a:solidFill>
                  <a:schemeClr val="dk1"/>
                </a:solidFill>
              </a:rPr>
            </a:br>
            <a:r>
              <a:rPr lang="en" sz="4000" b="1" u="none" strike="noStrike" dirty="0">
                <a:solidFill>
                  <a:schemeClr val="dk1"/>
                </a:solidFill>
              </a:rPr>
              <a:t>Proposed Solution: Overview</a:t>
            </a:r>
            <a:endParaRPr lang="en-US" sz="4000" b="1" u="none" strike="noStrike" dirty="0">
              <a:solidFill>
                <a:schemeClr val="dk1"/>
              </a:solidFill>
            </a:endParaRPr>
          </a:p>
        </p:txBody>
      </p:sp>
      <p:pic>
        <p:nvPicPr>
          <p:cNvPr id="183900919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8" y="173073"/>
            <a:ext cx="2146298" cy="71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03750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2" y="259431"/>
            <a:ext cx="2323253" cy="5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33239-402A-7B7D-9853-192E7F51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9" y="1821223"/>
            <a:ext cx="10515600" cy="671673"/>
          </a:xfrm>
        </p:spPr>
        <p:txBody>
          <a:bodyPr>
            <a:noAutofit/>
          </a:bodyPr>
          <a:lstStyle/>
          <a:p>
            <a:pPr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400" dirty="0">
                <a:solidFill>
                  <a:schemeClr val="dk1"/>
                </a:solidFill>
              </a:rPr>
              <a:t> OUR IDEA : </a:t>
            </a:r>
            <a:r>
              <a:rPr lang="en-IN" sz="2400" dirty="0"/>
              <a:t>A social-media feed with two-direction navigation.</a:t>
            </a:r>
          </a:p>
          <a:p>
            <a:pPr marL="0" indent="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None/>
              <a:defRPr/>
            </a:pPr>
            <a:endParaRPr lang="en-IN" sz="2400" dirty="0"/>
          </a:p>
          <a:p>
            <a:pPr marL="0" indent="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None/>
              <a:defRPr/>
            </a:pP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22876C-B09B-B789-182E-DF722F778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8" y="2290565"/>
            <a:ext cx="10009112" cy="4149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50449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Objectives</a:t>
            </a:r>
          </a:p>
        </p:txBody>
      </p:sp>
      <p:sp>
        <p:nvSpPr>
          <p:cNvPr id="33122576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Create an easy-to-use social-media website.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Organize reels using categories and hashtags.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Allow vertical scrolling within a category.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Allow horizontal movement between categories.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Remember the user's position in each category.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Provide secure user login.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982594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17687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43780" name="PlaceHolder 1"/>
          <p:cNvSpPr>
            <a:spLocks noGrp="1"/>
          </p:cNvSpPr>
          <p:nvPr>
            <p:ph type="title"/>
          </p:nvPr>
        </p:nvSpPr>
        <p:spPr bwMode="auto">
          <a:xfrm>
            <a:off x="407128" y="980728"/>
            <a:ext cx="11377264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 defTabSz="457200">
              <a:lnSpc>
                <a:spcPct val="100000"/>
              </a:lnSpc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Server Requirements and </a:t>
            </a:r>
            <a:r>
              <a:rPr lang="en-US" sz="4400" b="1" dirty="0">
                <a:solidFill>
                  <a:schemeClr val="dk1"/>
                </a:solidFill>
              </a:rPr>
              <a:t>Technology Stack</a:t>
            </a:r>
            <a:endParaRPr lang="en-US" sz="4400" b="1" u="none" strike="noStrike" dirty="0">
              <a:solidFill>
                <a:schemeClr val="dk1"/>
              </a:solidFill>
            </a:endParaRPr>
          </a:p>
        </p:txBody>
      </p:sp>
      <p:sp>
        <p:nvSpPr>
          <p:cNvPr id="697369764" name="PlaceHolder 2"/>
          <p:cNvSpPr>
            <a:spLocks noGrp="1"/>
          </p:cNvSpPr>
          <p:nvPr>
            <p:ph/>
          </p:nvPr>
        </p:nvSpPr>
        <p:spPr bwMode="auto">
          <a:xfrm>
            <a:off x="609600" y="2305340"/>
            <a:ext cx="10972320" cy="31398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None/>
              <a:defRPr/>
            </a:pPr>
            <a:endParaRPr lang="en-US" sz="2200" b="0" u="none" strike="noStrike" dirty="0">
              <a:solidFill>
                <a:schemeClr val="dk1"/>
              </a:solidFill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u="none" strike="noStrike" dirty="0">
                <a:solidFill>
                  <a:schemeClr val="dk1"/>
                </a:solidFill>
                <a:latin typeface="+mn-lt"/>
              </a:rPr>
              <a:t>Software: </a:t>
            </a:r>
            <a:r>
              <a:rPr lang="en-US" sz="2200" b="0" u="none" strike="noStrike" dirty="0">
                <a:solidFill>
                  <a:schemeClr val="dk1"/>
                </a:solidFill>
                <a:latin typeface="+mn-lt"/>
              </a:rPr>
              <a:t>PHP 8.x, MySQL, XAMPP, VS Code, </a:t>
            </a:r>
            <a:r>
              <a:rPr lang="en-IN" sz="2400" dirty="0">
                <a:latin typeface="+mn-lt"/>
              </a:rPr>
              <a:t>phpMyAdmin, JavaScript, HTML5 &amp; CSS3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1" dirty="0">
                <a:solidFill>
                  <a:schemeClr val="dk1"/>
                </a:solidFill>
              </a:rPr>
              <a:t>Frontend</a:t>
            </a:r>
            <a:r>
              <a:rPr lang="en-US" sz="2400" dirty="0">
                <a:solidFill>
                  <a:schemeClr val="dk1"/>
                </a:solidFill>
              </a:rPr>
              <a:t>: HTML5, CSS3, JS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1" dirty="0">
                <a:solidFill>
                  <a:schemeClr val="dk1"/>
                </a:solidFill>
              </a:rPr>
              <a:t>Backend</a:t>
            </a:r>
            <a:r>
              <a:rPr lang="en-US" sz="2400" dirty="0">
                <a:solidFill>
                  <a:schemeClr val="dk1"/>
                </a:solidFill>
              </a:rPr>
              <a:t>: PHP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1" dirty="0">
                <a:solidFill>
                  <a:schemeClr val="dk1"/>
                </a:solidFill>
              </a:rPr>
              <a:t>Database</a:t>
            </a:r>
            <a:r>
              <a:rPr lang="en-US" sz="2400" dirty="0">
                <a:solidFill>
                  <a:schemeClr val="dk1"/>
                </a:solidFill>
              </a:rPr>
              <a:t>: MySQL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1" dirty="0">
                <a:solidFill>
                  <a:schemeClr val="dk1"/>
                </a:solidFill>
              </a:rPr>
              <a:t>Tools</a:t>
            </a:r>
            <a:r>
              <a:rPr lang="en-US" sz="2400" dirty="0">
                <a:solidFill>
                  <a:schemeClr val="dk1"/>
                </a:solidFill>
              </a:rPr>
              <a:t>: phpMyAdmin, XAMPP ,</a:t>
            </a:r>
            <a:r>
              <a:rPr lang="en-IN" sz="2400" dirty="0"/>
              <a:t>VS Code ,Git &amp; GitHub</a:t>
            </a:r>
          </a:p>
          <a:p>
            <a:pPr lvl="0"/>
            <a:endParaRPr lang="en-IN" sz="2400" dirty="0">
              <a:latin typeface="+mn-lt"/>
            </a:endParaRPr>
          </a:p>
          <a:p>
            <a:pPr lvl="0"/>
            <a:endParaRPr lang="en-IN" sz="2400" dirty="0">
              <a:latin typeface="+mn-lt"/>
            </a:endParaRPr>
          </a:p>
          <a:p>
            <a:pPr lvl="0"/>
            <a:endParaRPr lang="en-IN" sz="2400" dirty="0">
              <a:latin typeface="+mn-lt"/>
            </a:endParaRPr>
          </a:p>
        </p:txBody>
      </p:sp>
      <p:pic>
        <p:nvPicPr>
          <p:cNvPr id="180560997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05309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52394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13782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B0FCED-DD5B-B915-1CED-A4992E504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826" y="1878300"/>
            <a:ext cx="8822348" cy="44310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EC2E34-9EB0-2C65-4A4B-E851B110166F}"/>
              </a:ext>
            </a:extLst>
          </p:cNvPr>
          <p:cNvSpPr txBox="1"/>
          <p:nvPr/>
        </p:nvSpPr>
        <p:spPr>
          <a:xfrm>
            <a:off x="1919536" y="1231969"/>
            <a:ext cx="882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GITHUB</a:t>
            </a:r>
            <a:r>
              <a:rPr lang="en-US" dirty="0"/>
              <a:t> : </a:t>
            </a:r>
            <a:r>
              <a:rPr lang="en-US" dirty="0">
                <a:hlinkClick r:id="rId6"/>
              </a:rPr>
              <a:t>https://github.com/Rajvi06-10/PHP_Project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09165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Database Design</a:t>
            </a:r>
          </a:p>
        </p:txBody>
      </p:sp>
      <p:sp>
        <p:nvSpPr>
          <p:cNvPr id="103867211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User - </a:t>
            </a:r>
            <a:r>
              <a:rPr lang="en-IN" sz="2400" dirty="0"/>
              <a:t>User ID, Name, Email, Password</a:t>
            </a:r>
            <a:endParaRPr lang="en-IN" sz="24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Category - </a:t>
            </a:r>
            <a:r>
              <a:rPr lang="en-IN" sz="2400" dirty="0"/>
              <a:t>Category ID, Category Name</a:t>
            </a:r>
            <a:endParaRPr lang="en-IN" sz="24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Reel - </a:t>
            </a:r>
            <a:r>
              <a:rPr lang="en-IN" sz="2400" dirty="0"/>
              <a:t>Reel ID, User ID, Category ID, Video, Caption, Hashtags</a:t>
            </a:r>
            <a:endParaRPr lang="en-IN" sz="24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Like - </a:t>
            </a:r>
            <a:r>
              <a:rPr lang="en-IN" sz="2400" dirty="0"/>
              <a:t>Like ID, User ID, Reel ID</a:t>
            </a:r>
            <a:endParaRPr lang="en-IN" sz="24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Comment - </a:t>
            </a:r>
            <a:r>
              <a:rPr lang="en-IN" sz="2400" dirty="0"/>
              <a:t>Comment ID, User ID, Reel ID, Comment</a:t>
            </a:r>
            <a:endParaRPr lang="en-IN" sz="24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Saved Reel - </a:t>
            </a:r>
            <a:r>
              <a:rPr lang="en-IN" sz="2400" dirty="0"/>
              <a:t>Save ID, User ID, Reel ID</a:t>
            </a:r>
            <a:endParaRPr lang="en-IN" sz="24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Follow - </a:t>
            </a:r>
            <a:r>
              <a:rPr lang="en-IN" sz="2400" dirty="0"/>
              <a:t>Follower ID, Following ID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IN" sz="2400" dirty="0">
              <a:latin typeface="+mn-lt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1401203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96839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722065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ER Diagram</a:t>
            </a:r>
          </a:p>
        </p:txBody>
      </p:sp>
      <p:pic>
        <p:nvPicPr>
          <p:cNvPr id="8520793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57303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B5E3FA-1068-4C41-A6AF-265A09BE4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8928"/>
            <a:ext cx="12192000" cy="5339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07409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DFD DIAGRAM</a:t>
            </a:r>
          </a:p>
        </p:txBody>
      </p:sp>
      <p:pic>
        <p:nvPicPr>
          <p:cNvPr id="182811518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158431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BF2676-2739-F5C3-315C-AEAF04426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647" y="1446887"/>
            <a:ext cx="6372225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589B0D06-1399-DADC-44F9-EB3E333A94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DFD DIAGRAM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06F6CE4-CC62-F08D-B1AB-6DAA98FEF8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C50D0E6E-E682-CACA-3668-C04BF6B06D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3FE33C-4CAC-9144-F3C8-7705FAB44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285" y="1518928"/>
            <a:ext cx="683895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1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15014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Challenges &amp; Learning</a:t>
            </a:r>
          </a:p>
        </p:txBody>
      </p:sp>
      <p:sp>
        <p:nvSpPr>
          <p:cNvPr id="78188354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7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IN" sz="2400" b="1" dirty="0"/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Designing the category-based feed.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Implementing horizontal and vertical scrolling.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Maintaining reel position.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Designing the database.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Connecting PHP with MySQL.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Handling user sessions.</a:t>
            </a:r>
          </a:p>
          <a:p>
            <a:r>
              <a:rPr lang="en-IN" sz="2400" b="1" dirty="0"/>
              <a:t>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PHP Programming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MySQL Database Design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CRUD Operations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Frontend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PHP &amp; MySQL Integration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8126962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050750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14420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1" u="none" strike="noStrike" dirty="0">
                <a:solidFill>
                  <a:schemeClr val="dk1"/>
                </a:solidFill>
              </a:rPr>
              <a:t>References</a:t>
            </a:r>
          </a:p>
        </p:txBody>
      </p:sp>
      <p:sp>
        <p:nvSpPr>
          <p:cNvPr id="11599584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Instagram (Studied feed structure and reels navigation)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Facebook (Studied social media interaction features)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TikTok (Studied short-video feed and user engagement)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YouTube Shorts (Studied video recommendation and scrolling experience) </a:t>
            </a: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737596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7540094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766695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10934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laceHolder 1">
            <a:extLst>
              <a:ext uri="{FF2B5EF4-FFF2-40B4-BE49-F238E27FC236}">
                <a16:creationId xmlns:a16="http://schemas.microsoft.com/office/drawing/2014/main" id="{6AC3AD86-FD97-BC6C-F28C-7938F81A28C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840" y="1268760"/>
            <a:ext cx="10972320" cy="4824536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6000" b="1" u="none" strike="noStrike" dirty="0">
                <a:solidFill>
                  <a:schemeClr val="dk1"/>
                </a:solidFill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354</Words>
  <Application>Microsoft Office PowerPoint</Application>
  <PresentationFormat>Widescreen</PresentationFormat>
  <Paragraphs>72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Blank</vt:lpstr>
      <vt:lpstr>Category-Based Social Media Feed</vt:lpstr>
      <vt:lpstr> Team Information</vt:lpstr>
      <vt:lpstr>Problem Statement</vt:lpstr>
      <vt:lpstr> Proposed Solution: Overview</vt:lpstr>
      <vt:lpstr>Objectives</vt:lpstr>
      <vt:lpstr>Server Requirements and Technology Stack</vt:lpstr>
      <vt:lpstr>PowerPoint Presentation</vt:lpstr>
      <vt:lpstr>Database Design</vt:lpstr>
      <vt:lpstr>ER Diagram</vt:lpstr>
      <vt:lpstr>DFD DIAGRAM</vt:lpstr>
      <vt:lpstr>DFD DIAGRAM</vt:lpstr>
      <vt:lpstr>Challenges &amp; Learning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Rajvi Gandhi</cp:lastModifiedBy>
  <cp:revision>6</cp:revision>
  <dcterms:created xsi:type="dcterms:W3CDTF">2013-01-27T09:14:16Z</dcterms:created>
  <dcterms:modified xsi:type="dcterms:W3CDTF">2026-08-06T19:00:25Z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